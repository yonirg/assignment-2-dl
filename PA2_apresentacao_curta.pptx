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ff29964-ba75-4bd5-f3fc-240230b399b7}">
          <p14:sldIdLst>
            <p14:sldId id="256"/>
          </p14:sldIdLst>
        </p14:section>
        <p14:section name="Método" id="{1f23689a-3aa5-cbef-c924-5f6e31dac279}">
          <p14:sldIdLst>
            <p14:sldId id="257"/>
            <p14:sldId id="258"/>
          </p14:sldIdLst>
        </p14:section>
        <p14:section name="Trilha A" id="{ade961bf-05f1-5cfb-1c33-feb2fb7804cd}">
          <p14:sldIdLst>
            <p14:sldId id="259"/>
            <p14:sldId id="260"/>
          </p14:sldIdLst>
        </p14:section>
        <p14:section name="Análise" id="{c7850385-efbe-82c2-690f-3511e5b84e7f}">
          <p14:sldIdLst>
            <p14:sldId id="261"/>
            <p14:sldId id="262"/>
            <p14:sldId id="263"/>
          </p14:sldIdLst>
        </p14:section>
        <p14:section name="MOT17" id="{55c7194b-fb3c-cb1b-a89f-c5df44472af9}">
          <p14:sldIdLst>
            <p14:sldId id="264"/>
          </p14:sldIdLst>
        </p14:section>
        <p14:section name="Conclusão" id="{f4e48284-ec75-08fe-a307-99786cd305b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IDF1 ↑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IDF1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6C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9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IoU ingênuo</c:v>
                  </c:pt>
                  <c:pt idx="1">
                    <c:v>Kalman</c:v>
                  </c:pt>
                  <c:pt idx="2">
                    <c:v>MotionRNN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0.749</c:v>
                </c:pt>
                <c:pt idx="1">
                  <c:v>0.813</c:v>
                </c:pt>
                <c:pt idx="2">
                  <c:v>0.886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6"/>
        </c:scaling>
        <c:delete val="1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ID switches ↓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 switches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6C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9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IoU ingênuo</c:v>
                  </c:pt>
                  <c:pt idx="1">
                    <c:v>Kalman</c:v>
                  </c:pt>
                  <c:pt idx="2">
                    <c:v>MotionRNN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222</c:v>
                </c:pt>
                <c:pt idx="1">
                  <c:v>131</c:v>
                </c:pt>
                <c:pt idx="2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Identidade sobrevive a oclusões de 32–47 quadros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sobrevivência 32–47 q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6C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9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Final</c:v>
                  </c:pt>
                  <c:pt idx="1">
                    <c:v>Só max_age 60</c:v>
                  </c:pt>
                  <c:pt idx="2">
                    <c:v>T=48 + buracos ≤ 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0.72</c:v>
                </c:pt>
                <c:pt idx="2">
                  <c:v>0.83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b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IDF1 (e mAP) por nível de degradação, sem retreinar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 do detector</c:v>
                </c:pt>
              </c:strCache>
            </c:strRef>
          </c:tx>
          <c:spPr>
            <a:solidFill>
              <a:srgbClr val="F2A541"/>
            </a:solidFill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0.859</c:v>
                </c:pt>
                <c:pt idx="1">
                  <c:v>0.754</c:v>
                </c:pt>
                <c:pt idx="2">
                  <c:v>0.571</c:v>
                </c:pt>
                <c:pt idx="3">
                  <c:v>0.365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IoU ingênuo</c:v>
                </c:pt>
              </c:strCache>
            </c:strRef>
          </c:tx>
          <c:spPr>
            <a:solidFill>
              <a:srgbClr val="9AA3B2"/>
            </a:solidFill>
            <a:ln w="38100" cap="flat">
              <a:solidFill>
                <a:srgbClr val="9AA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B2"/>
              </a:solidFill>
              <a:ln w="9525" cap="flat">
                <a:solidFill>
                  <a:srgbClr val="9AA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0.749</c:v>
                </c:pt>
                <c:pt idx="1">
                  <c:v>0.687</c:v>
                </c:pt>
                <c:pt idx="2">
                  <c:v>0.559</c:v>
                </c:pt>
                <c:pt idx="3">
                  <c:v>0.375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Kalman</c:v>
                </c:pt>
              </c:strCache>
            </c:strRef>
          </c:tx>
          <c:spPr>
            <a:solidFill>
              <a:srgbClr val="7B6CD9"/>
            </a:solidFill>
            <a:ln w="38100" cap="flat">
              <a:solidFill>
                <a:srgbClr val="7B6C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B6CD9"/>
              </a:solidFill>
              <a:ln w="9525" cap="flat">
                <a:solidFill>
                  <a:srgbClr val="7B6C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0.813</c:v>
                </c:pt>
                <c:pt idx="1">
                  <c:v>0.728</c:v>
                </c:pt>
                <c:pt idx="2">
                  <c:v>0.582</c:v>
                </c:pt>
                <c:pt idx="3">
                  <c:v>0.425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MotionRNN</c:v>
                </c:pt>
              </c:strCache>
            </c:strRef>
          </c:tx>
          <c:spPr>
            <a:solidFill>
              <a:srgbClr val="1FA99A"/>
            </a:solidFill>
            <a:ln w="38100" cap="flat">
              <a:solidFill>
                <a:srgbClr val="1FA9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A99A"/>
              </a:solidFill>
              <a:ln w="9525" cap="flat">
                <a:solidFill>
                  <a:srgbClr val="1FA9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0.886</c:v>
                </c:pt>
                <c:pt idx="1">
                  <c:v>0.82</c:v>
                </c:pt>
                <c:pt idx="2">
                  <c:v>0.666</c:v>
                </c:pt>
                <c:pt idx="3">
                  <c:v>0.419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3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De onde vêm os ID switches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Sintético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Oclusão longa</c:v>
                  </c:pt>
                  <c:pt idx="1">
                    <c:v>Fragmentação curta</c:v>
                  </c:pt>
                  <c:pt idx="2">
                    <c:v>Troca entre vizinhos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0.8125</c:v>
                </c:pt>
                <c:pt idx="1">
                  <c:v>0.1875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MOT17</c:v>
                </c:pt>
              </c:strCache>
            </c:strRef>
          </c:tx>
          <c:spPr>
            <a:solidFill>
              <a:srgbClr val="F25F5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Oclusão longa</c:v>
                  </c:pt>
                  <c:pt idx="1">
                    <c:v>Fragmentação curta</c:v>
                  </c:pt>
                  <c:pt idx="2">
                    <c:v>Troca entre vizinhos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0.3002610966057441</c:v>
                </c:pt>
                <c:pt idx="1">
                  <c:v>0.30809399477806787</c:v>
                </c:pt>
                <c:pt idx="2">
                  <c:v>0.391644908616188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b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(~20 s) O PA2 sai da detecção quadro a quadro para a identidade ao longo do tempo: saber que a pessoa do quadro 10 é a mesma do quadro 200. Escolhi a Trilha A: uma RNN que aprende o movimento de cada objeto.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Quatro passos por quadro. 1) O detector é congelado: uso as detecções prontas. 2) Cada pessoa tem um estado GRU que prevê onde ela estará no próximo quadro, com uma variância. 3) Associo detecções às tracks pelo IoU com a caixa prevista; se o IoU for baixo mas a detecção estiver dentro da incerteza prevista (Mahalanobis), também aceito. Matching guloso. 4) Detecção sem par vira track nova; track sem detecção por 30 quadros morre. Enquanto a pessoa está ocluída, a RNN continua andando com a própria previsão.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 Escrevi as métricas do zero. IDF1 é a fração de quadros em que a pessoa recebe o id certo, usando a melhor correspondência global entre ids previstos e verdadeiros. ID switch conta eventos de troca. Os testes mostram que elas medem coisas diferentes: uma troca no meio dá 2 switches e IDF1 0,5; partir um objeto em dois dá 1 switch e IDF1 0,77. Parte 1: com o rastreador ingênuo (IoU com a última caixa), o mAP do detector fica quase estável enquanto o IDF1 cai pela metade. Medir só a detecção engana. Na validação, o matching guloso foi melhor que o Hungarian, que força pares ruins.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A recorrência carrega, por pessoa, a memória do movimento. Entrada: o deslocamento da caixa no último quadro, normalizado pela altura, então vale para gente perto ou longe da câmera. Saída: uma gaussiana — média e variância do próximo deslocamento. Treino só com trajetórias da ground truth, com BPTT truncado em janelas de 16 quadros. O detalhe importante é o scheduled sampling: às vezes alimento a rede com a própria previsão em vez da observação, porque é isso que acontece numa oclusão. Pergunta do enunciado sobre janelas: no PA1 o tile cortava objetos; aqui a janela cortaria identidades. A resposta é carregar o estado de uma janela para a outra, exatamente como o BPTT truncado faz no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 30 vídeos de teste nunca vistos. IDF1 0,886 contra 0,813 do Kalman e 0,749 do IoU ingênuo; switches de 222 para 41. Oclusões com identidade preservada: de 3,5% para 91%. A tira de baixo mostra o porquê: o IoU ingênuo fica parado na última caixa vista, enquanto a previsão da RNN atravessa o poste junto com o objeto. Ela ganha do Kalman porque os objetos sintéticos quicam e aceleram, e o Kalman supõe velocidade constante.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 RNN simples, LSTM e GRU com o mesmo número de parâmetros, janelas de 4 a 32. As células diferem por menos de 1 ponto, dentro do desvio; a janela vai de 0,80 a 0,88. Bate com a aula de duas formas: o gradiente medido some na RNN simples (44 vezes em 30 passos) e quase não some na GRU (5 vezes), por causa da porta de atualização. E os slides 72–73 da aula dizem que nenhuma variante vence LSTM e GRU de forma consistente. Mas a tarefa precisa de pouca memória: alguns quadros bastam para estimar velocidade. O que limita é a janela de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 A galeria de falhas mostra que 39 de 48 switches vêm de oclusões mais longas que o max_age e que os buracos que a rede viu no treino. Na figura, a elipse de incerteza cresce — o modelo sabe que está extrapolando — mas a track morre antes do objeto voltar. A correção: retreinar com janela de 48 e buracos de até 40, e max_age 60. Para separar os efeitos, um controle muda só o max_age. Sobrevivência em oclusões longas: 0% → 72% só com max_age → 83% com o retreino. A maior parte vem de não matar a track; o retreino acrescenta o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Sem retreinar, degradei o detector em três níveis. Em leve e média a RNN absorve: o IDF1 cai menos que o mAP, porque detecções perdidas são tratadas como oclusões curtas. Na forte ela amplifica: switches multiplicam por 13 e o Kalman passa na frente, porque um ruído de 10% está fora da distribuição de treino (4%). No MOT17 o padrão se repete.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No MOT17 real, sequências de teste 10 e 13 com as detecções FRCNN. A RNN quase empata com o Kalman: 0,500 contra 0,493. No sintético a vantagem vinha de movimento não linear; pedestres andam quase em linha reta, que é exatamente o que o Kalman supõe. Com o detector do torchvision, que rodei na GPU do Mac, o mAP sobe, a RNN melhora para 0,517 com 350 switches, e o IoU ingênuo piora: detector melhor não conserta a identidade. O gráfico explica por que a correção da Parte 4 não ajudou aqui: no sintético 81% dos erros eram oclusão longa; no MOT17 só 30%, e o maior grupo são trocas entre pessoas lado a lado. Geometria sozinha não separa duas pessoas coladas — o próximo passo seria aparência.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 s) Quatro lições: detecção boa não garante identidade; um modelo de movimento aprendido ajuda muito quando o movimento é não linear e pouco com pedestres; o horizonte de memória é limitado pela janela de treino; e no mundo real o que falta é aparência. Tudo é reproduzível com run_all.sh.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PA2 — Identidade ao longo do tempo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Detecção, recorrência e rastreamento multiobjeto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Trilha A: RNN como modelo de movimento</a:t>
            </a:r>
            <a:endParaRPr lang="en-US" sz="2000" dirty="0"/>
          </a:p>
        </p:txBody>
      </p:sp>
      <p:sp>
        <p:nvSpPr>
          <p:cNvPr id="4" name="tag-1"/>
          <p:cNvSpPr txBox="1"/>
          <p:nvPr/>
        </p:nvSpPr>
        <p:spPr>
          <a:xfrm>
            <a:off x="731520" y="13716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1</a:t>
            </a:r>
            <a:endParaRPr lang="en-US" sz="1200" dirty="0"/>
          </a:p>
        </p:txBody>
      </p:sp>
      <p:sp>
        <p:nvSpPr>
          <p:cNvPr id="5" name="tag-2"/>
          <p:cNvSpPr txBox="1"/>
          <p:nvPr/>
        </p:nvSpPr>
        <p:spPr>
          <a:xfrm>
            <a:off x="2011680" y="13716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2</a:t>
            </a:r>
            <a:endParaRPr lang="en-US" sz="1200" dirty="0"/>
          </a:p>
        </p:txBody>
      </p:sp>
      <p:sp>
        <p:nvSpPr>
          <p:cNvPr id="6" name="tag-3"/>
          <p:cNvSpPr txBox="1"/>
          <p:nvPr/>
        </p:nvSpPr>
        <p:spPr>
          <a:xfrm>
            <a:off x="3291840" y="13716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Yonathan Rabinovici Gherman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Detectar bem não é rastrear bem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detector diz onde há pessoas em cada quadro. O rastreador precisa dizer quem é quem ao longo do vídeo — inclusive quando alguém some atrás de algo.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06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Detector congelado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caixas por quadro (FRCNN do MOT17 ou simulador)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7248" y="329184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606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Previsão por track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703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uma GRU por pessoa prevê a próxima caixa + incerteza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07608" y="329184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6060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Associação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703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IoU com a previsão + portão de Mahalanobis; matching guloso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87968" y="329184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972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3" name="Shape 21"/>
          <p:cNvSpPr/>
          <p:nvPr/>
        </p:nvSpPr>
        <p:spPr>
          <a:xfrm>
            <a:off x="9418320" y="2606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Gestão de tracks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703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nasce após 3 acertos, morre após 30 quadros sem ser vista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193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Tudo do zero: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métricas, NMS, associação e gestão de tracks. Dados: ambiente sintético próprio + MOT17 (treino 02/04/05/11 · val 09 · teste 10/13).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Partes 0–1: é preciso medir a identidade</a:t>
            </a:r>
            <a:endParaRPr lang="en-US" sz="3200" dirty="0"/>
          </a:p>
        </p:txBody>
      </p:sp>
      <p:sp>
        <p:nvSpPr>
          <p:cNvPr id="3" name="tag-4"/>
          <p:cNvSpPr txBox="1"/>
          <p:nvPr/>
        </p:nvSpPr>
        <p:spPr>
          <a:xfrm>
            <a:off x="548640" y="132588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IDF1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3441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fração de quadros com o id certo (melhor atribuição global)</a:t>
            </a:r>
            <a:endParaRPr lang="en-US" sz="1400" dirty="0"/>
          </a:p>
        </p:txBody>
      </p:sp>
      <p:sp>
        <p:nvSpPr>
          <p:cNvPr id="5" name="tag-5"/>
          <p:cNvSpPr txBox="1"/>
          <p:nvPr/>
        </p:nvSpPr>
        <p:spPr>
          <a:xfrm>
            <a:off x="548640" y="201168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switch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20299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evento: o id de uma pessoa muda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5394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teste da métrica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IDSW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IDF1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objetos trocam ids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objeto partido em 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0,769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IDSW conta eventos; IDF1 conta quadros. Medem coisas diferentes.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4348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D8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0,92 → 0,82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mAP do detector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0,96 → 0,48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IDF1 do IoU ingênuo, nos mesmos 10 vídeos</a:t>
            </a:r>
            <a:endParaRPr lang="en-US" sz="1300" dirty="0"/>
          </a:p>
        </p:txBody>
      </p:sp>
      <p:pic>
        <p:nvPicPr>
          <p:cNvPr id="14" name="Descolamento mAP vs IDF1" descr="Descolamento mAP vs IDF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34440"/>
            <a:ext cx="5212080" cy="3648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00800" y="4937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Parte 1: o detector continua bom e a identidade desaba.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2: MotionRNN — uma GRU por pessoa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ag-6"/>
          <p:cNvSpPr txBox="1"/>
          <p:nvPr/>
        </p:nvSpPr>
        <p:spPr>
          <a:xfrm>
            <a:off x="777240" y="146304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Entrada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Δx, Δy, Δw, Δh normalizados pela altura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observado?, score, posição na imagem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tag-7"/>
          <p:cNvSpPr txBox="1"/>
          <p:nvPr/>
        </p:nvSpPr>
        <p:spPr>
          <a:xfrm>
            <a:off x="4526280" y="146304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Saída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μ: deslocamento até o próximo quadro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σ²: incerteza → portão de associação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tag-8"/>
          <p:cNvSpPr txBox="1"/>
          <p:nvPr/>
        </p:nvSpPr>
        <p:spPr>
          <a:xfrm>
            <a:off x="8275320" y="146304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Treino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trajetórias da gt + ruído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BPTT truncado, T = 16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scheduled sampling + buracos simulados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4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Sob oclusão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track recebe a própria previsão como entrada: o estado continua andando, a incerteza cresce e o portão abre para reencontrar a pessoa quando ela volta.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D8F1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Pergunta: inferência em janelas de T quadros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43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Zerar o estado em cada janela corta identidades (id novo em cada fronteira). Solução: passar o estado adiante, como no BPTT truncado — ele é pequeno (61 números + última caixa).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2: no sintético a RNN vence com folga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297680" y="11887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21040" y="1463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3,5% → 91%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32104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oclusões com a identidade preservada (IoU ingênuo → RNN)</a:t>
            </a:r>
            <a:endParaRPr lang="en-US" sz="1300" dirty="0"/>
          </a:p>
        </p:txBody>
      </p:sp>
      <p:pic>
        <p:nvPicPr>
          <p:cNvPr id="7" name="Previsão atravessando o poste" descr="Previsão atravessando o pos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06240"/>
            <a:ext cx="10149840" cy="191719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6169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Verde: gt · vermelho: previsão da RNN atravessando o poste · cinza: IoU ingênuo parado na última caixa.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3: a janela importa mais que a célula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IDF1 (val.)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 = 4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 = 8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 = 16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 = 32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RNN simples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0,803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0,859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0,876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0,883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LSTM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0,807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0,849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0,879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0,884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GRU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0,807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0,867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0,884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0,885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Mesmo nº de parâmetros (~13k) · 3 sementes cada · 36 treinos.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44× vs 5×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queda do gradiente em 30 passos: RNN simples vs GRU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8463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D8F1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9834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gradiente some como na aula, mas prever movimento exige pouca memória. O gargalo é T, de onde vem o sinal de treino.</a:t>
            </a:r>
            <a:endParaRPr lang="en-US" sz="1500" dirty="0"/>
          </a:p>
        </p:txBody>
      </p:sp>
      <p:pic>
        <p:nvPicPr>
          <p:cNvPr id="9" name="Horizonte do gradiente" descr="Horizonte do grad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5212080" cy="31272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‖∂L_t/∂h_{t−k}‖. Na LSTM a memória longa fica em c (pontilhado).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4: onde a identidade se perde — e a correção</a:t>
            </a:r>
            <a:endParaRPr lang="en-US" sz="3200" dirty="0"/>
          </a:p>
        </p:txBody>
      </p:sp>
      <p:pic>
        <p:nvPicPr>
          <p:cNvPr id="3" name="Falha por oclusão longa" descr="Falha por oclusão long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21414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37590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Oclusão de 49 quadros: a elipse de incerteza cresce até a track morrer (max_age = 30).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03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39 de 48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72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switches vêm de oclusões mais longas que max_age e que os buracos vistos no treino (≤ 12)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0" y="3657600"/>
          <a:ext cx="5943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5: detector degradado — absorve ou amplifica?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6583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2801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D8F1E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2668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Leve e média: absorve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1874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Detecções perdidas viram "oclusões curtas" e o portão rejeita falsos positivos.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98080" y="356616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DE3E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3703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Forte: amplifica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4160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Switches ×13 e perde para o Kalman: o ruído fica fora do que a rede viu no treino.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 MOT17 real a história muda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teste (seqs 10 e 13)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IDF1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IDSW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oclusões c/ id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IoU ingênuo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Kalman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51%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MotionRNN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0,500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383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MotionRNN + torchvision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0,517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06324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RNN ≈ Kalman: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pedestres andam quase em linha reta, que é o modelo do Kalman.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Detector melhor (torchvision, mAP 0,59 → 0,67):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RNN melhora, o IoU ingênuo piora (0,372).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 correção da Parte 4 não move o IDF1: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ela ataca a oclusão longa, que aqui é só 30% dos erros.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83680" y="1188720"/>
          <a:ext cx="5029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fica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D2C44"/>
          </a:solidFill>
          <a:ln/>
        </p:spPr>
      </p:sp>
      <p:sp>
        <p:nvSpPr>
          <p:cNvPr id="4" name="tag-9"/>
          <p:cNvSpPr txBox="1"/>
          <p:nvPr/>
        </p:nvSpPr>
        <p:spPr>
          <a:xfrm>
            <a:off x="1005840" y="18288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Detecção ≠ identidade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mAP estável enquanto o IDF1 cai pela metade.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D2C44"/>
          </a:solidFill>
          <a:ln/>
        </p:spPr>
      </p:sp>
      <p:sp>
        <p:nvSpPr>
          <p:cNvPr id="8" name="tag-10"/>
          <p:cNvSpPr txBox="1"/>
          <p:nvPr/>
        </p:nvSpPr>
        <p:spPr>
          <a:xfrm>
            <a:off x="6492240" y="18288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Movimento aprendido ajuda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Muito no sintético (41 vs 131 switches); pouco no MOT17.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D2C44"/>
          </a:solidFill>
          <a:ln/>
        </p:spPr>
      </p:sp>
      <p:sp>
        <p:nvSpPr>
          <p:cNvPr id="12" name="tag-11"/>
          <p:cNvSpPr txBox="1"/>
          <p:nvPr/>
        </p:nvSpPr>
        <p:spPr>
          <a:xfrm>
            <a:off x="1005840" y="402336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Memória vem do treino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janela de BPTT limita o horizonte mais que a célula.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D2C44"/>
          </a:solidFill>
          <a:ln/>
        </p:spPr>
      </p:sp>
      <p:sp>
        <p:nvSpPr>
          <p:cNvPr id="16" name="tag-12"/>
          <p:cNvSpPr txBox="1"/>
          <p:nvPr/>
        </p:nvSpPr>
        <p:spPr>
          <a:xfrm>
            <a:off x="6492240" y="402336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Limite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 MOT17, 39% dos switches são vizinhos trocados: falta aparência.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github.com/yonirg/Assignment-2-DL · bash run_all.sh {synth | mot17}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2 Tracking">
  <a:themeElements>
    <a:clrScheme name="PA2 Tracking">
      <a:dk1>
        <a:srgbClr val="1B2433"/>
      </a:dk1>
      <a:lt1>
        <a:srgbClr val="FFFFFF"/>
      </a:lt1>
      <a:dk2>
        <a:srgbClr val="0F1B2D"/>
      </a:dk2>
      <a:lt2>
        <a:srgbClr val="EEF2F7"/>
      </a:lt2>
      <a:accent1>
        <a:srgbClr val="1FA99A"/>
      </a:accent1>
      <a:accent2>
        <a:srgbClr val="F25F5C"/>
      </a:accent2>
      <a:accent3>
        <a:srgbClr val="F2A541"/>
      </a:accent3>
      <a:accent4>
        <a:srgbClr val="7B6CD9"/>
      </a:accent4>
      <a:accent5>
        <a:srgbClr val="9AA3B2"/>
      </a:accent5>
      <a:accent6>
        <a:srgbClr val="5B6578"/>
      </a:accent6>
      <a:hlink>
        <a:srgbClr val="1FA99A"/>
      </a:hlink>
      <a:folHlink>
        <a:srgbClr val="7B6CD9"/>
      </a:folHlink>
    </a:clrScheme>
    <a:fontScheme name="PA2 Track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PA2 — Identidade ao longo do tempo (versão curta)</dc:title>
  <dc:subject>PptxGenJS Presentation</dc:subject>
  <dc:creator>PptxGenJS</dc:creator>
  <cp:lastModifiedBy>PptxGenJS</cp:lastModifiedBy>
  <cp:revision>1</cp:revision>
  <dcterms:created xsi:type="dcterms:W3CDTF">2026-10-02T17:56:27Z</dcterms:created>
  <dcterms:modified xsi:type="dcterms:W3CDTF">2026-10-02T17:56:27Z</dcterms:modified>
</cp:coreProperties>
</file>