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5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6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161e3643-9c1b-24a0-da99-a067166a0bd8}">
          <p14:sldIdLst>
            <p14:sldId id="256"/>
          </p14:sldIdLst>
        </p14:section>
        <p14:section name="Problema" id="{c8fba1fe-d691-13b6-caa9-af2af982f0c4}">
          <p14:sldIdLst>
            <p14:sldId id="257"/>
            <p14:sldId id="258"/>
          </p14:sldIdLst>
        </p14:section>
        <p14:section name="Sintético" id="{72b30cfb-4ee0-7d04-4de4-e35e300d8f89}">
          <p14:sldIdLst>
            <p14:sldId id="259"/>
            <p14:sldId id="260"/>
          </p14:sldIdLst>
        </p14:section>
        <p14:section name="Trilha A" id="{a2980696-c8d2-6a9c-a3a9-e774fe99e896}">
          <p14:sldIdLst>
            <p14:sldId id="261"/>
            <p14:sldId id="262"/>
            <p14:sldId id="263"/>
          </p14:sldIdLst>
        </p14:section>
        <p14:section name="Ablação e falhas" id="{0a85d176-4f3f-5de0-781f-554d50665043}">
          <p14:sldIdLst>
            <p14:sldId id="264"/>
            <p14:sldId id="265"/>
            <p14:sldId id="266"/>
          </p14:sldIdLst>
        </p14:section>
        <p14:section name="Estresse" id="{d04f785b-52e7-3908-1856-8cb2fcdcc54a}">
          <p14:sldIdLst>
            <p14:sldId id="267"/>
          </p14:sldIdLst>
        </p14:section>
        <p14:section name="MOT17 real" id="{8767baff-b43e-226c-42e5-1d253f889071}">
          <p14:sldIdLst>
            <p14:sldId id="268"/>
            <p14:sldId id="269"/>
            <p14:sldId id="270"/>
          </p14:sldIdLst>
        </p14:section>
        <p14:section name="Conclusão" id="{9fd335d6-0c7f-c6f5-2768-d661483b6471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3"/>
                </a:solidFill>
                <a:latin typeface="+mn-lt"/>
              </a:rPr>
              <a:t>IDF1 ↑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IDF1</c:v>
                </c:pt>
              </c:strCache>
            </c:strRef>
          </c:tx>
          <c:spPr>
            <a:solidFill>
              <a:srgbClr val="9AA3B2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A3B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B6CD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A99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IoU ingênuo</c:v>
                  </c:pt>
                  <c:pt idx="1">
                    <c:v>Kalman</c:v>
                  </c:pt>
                  <c:pt idx="2">
                    <c:v>MotionRNN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0.749</c:v>
                </c:pt>
                <c:pt idx="1">
                  <c:v>0.813</c:v>
                </c:pt>
                <c:pt idx="2">
                  <c:v>0.886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5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5"/>
          <c:min val="0.6"/>
        </c:scaling>
        <c:delete val="1"/>
        <c:axPos val="l"/>
        <c:majorGridlines>
          <c:spPr>
            <a:ln w="9525" cap="flat">
              <a:solidFill>
                <a:srgbClr val="E3E7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3"/>
                </a:solidFill>
                <a:latin typeface="+mn-lt"/>
              </a:rPr>
              <a:t>ID switches ↓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 switches</c:v>
                </c:pt>
              </c:strCache>
            </c:strRef>
          </c:tx>
          <c:spPr>
            <a:solidFill>
              <a:srgbClr val="9AA3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A3B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B6CD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A99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IoU ingênuo</c:v>
                  </c:pt>
                  <c:pt idx="1">
                    <c:v>Kalman</c:v>
                  </c:pt>
                  <c:pt idx="2">
                    <c:v>MotionRNN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222</c:v>
                </c:pt>
                <c:pt idx="1">
                  <c:v>131</c:v>
                </c:pt>
                <c:pt idx="2">
                  <c:v>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5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9525" cap="flat">
              <a:solidFill>
                <a:srgbClr val="E3E7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3"/>
                </a:solidFill>
                <a:latin typeface="+mn-lt"/>
              </a:rPr>
              <a:t>Identidade sobrevive a oclusões de 32–47 quadros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sobrevivência 32–47 q</c:v>
                </c:pt>
              </c:strCache>
            </c:strRef>
          </c:tx>
          <c:spPr>
            <a:solidFill>
              <a:srgbClr val="9AA3B2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A3B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B6CD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A99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Final (T=16, max_age 30)</c:v>
                  </c:pt>
                  <c:pt idx="1">
                    <c:v>Controle: só max_age 60</c:v>
                  </c:pt>
                  <c:pt idx="2">
                    <c:v>Corrigido: T=48, buracos ≤ 40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0.72</c:v>
                </c:pt>
                <c:pt idx="2">
                  <c:v>0.83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5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1"/>
        <c:axPos val="b"/>
        <c:majorGridlines>
          <c:spPr>
            <a:ln w="9525" cap="flat">
              <a:solidFill>
                <a:srgbClr val="E3E7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3"/>
                </a:solidFill>
                <a:latin typeface="+mn-lt"/>
              </a:rPr>
              <a:t>IDF1 (e mAP) por nível de degradação, sem retreinar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 do detector</c:v>
                </c:pt>
              </c:strCache>
            </c:strRef>
          </c:tx>
          <c:spPr>
            <a:solidFill>
              <a:srgbClr val="F2A541"/>
            </a:solidFill>
            <a:ln w="38100" cap="flat">
              <a:solidFill>
                <a:srgbClr val="F2A54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F2A541"/>
              </a:solidFill>
              <a:ln w="9525" cap="flat">
                <a:solidFill>
                  <a:srgbClr val="F2A54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original</c:v>
                  </c:pt>
                  <c:pt idx="1">
                    <c:v>leve</c:v>
                  </c:pt>
                  <c:pt idx="2">
                    <c:v>média</c:v>
                  </c:pt>
                  <c:pt idx="3">
                    <c:v>forte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0.859</c:v>
                </c:pt>
                <c:pt idx="1">
                  <c:v>0.754</c:v>
                </c:pt>
                <c:pt idx="2">
                  <c:v>0.571</c:v>
                </c:pt>
                <c:pt idx="3">
                  <c:v>0.365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IoU ingênuo</c:v>
                </c:pt>
              </c:strCache>
            </c:strRef>
          </c:tx>
          <c:spPr>
            <a:solidFill>
              <a:srgbClr val="9AA3B2"/>
            </a:solidFill>
            <a:ln w="38100" cap="flat">
              <a:solidFill>
                <a:srgbClr val="9AA3B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9AA3B2"/>
              </a:solidFill>
              <a:ln w="9525" cap="flat">
                <a:solidFill>
                  <a:srgbClr val="9AA3B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original</c:v>
                  </c:pt>
                  <c:pt idx="1">
                    <c:v>leve</c:v>
                  </c:pt>
                  <c:pt idx="2">
                    <c:v>média</c:v>
                  </c:pt>
                  <c:pt idx="3">
                    <c:v>forte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0.749</c:v>
                </c:pt>
                <c:pt idx="1">
                  <c:v>0.687</c:v>
                </c:pt>
                <c:pt idx="2">
                  <c:v>0.559</c:v>
                </c:pt>
                <c:pt idx="3">
                  <c:v>0.375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Kalman</c:v>
                </c:pt>
              </c:strCache>
            </c:strRef>
          </c:tx>
          <c:spPr>
            <a:solidFill>
              <a:srgbClr val="7B6CD9"/>
            </a:solidFill>
            <a:ln w="38100" cap="flat">
              <a:solidFill>
                <a:srgbClr val="7B6CD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7B6CD9"/>
              </a:solidFill>
              <a:ln w="9525" cap="flat">
                <a:solidFill>
                  <a:srgbClr val="7B6CD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original</c:v>
                  </c:pt>
                  <c:pt idx="1">
                    <c:v>leve</c:v>
                  </c:pt>
                  <c:pt idx="2">
                    <c:v>média</c:v>
                  </c:pt>
                  <c:pt idx="3">
                    <c:v>forte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0.813</c:v>
                </c:pt>
                <c:pt idx="1">
                  <c:v>0.728</c:v>
                </c:pt>
                <c:pt idx="2">
                  <c:v>0.582</c:v>
                </c:pt>
                <c:pt idx="3">
                  <c:v>0.425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MotionRNN</c:v>
                </c:pt>
              </c:strCache>
            </c:strRef>
          </c:tx>
          <c:spPr>
            <a:solidFill>
              <a:srgbClr val="1FA99A"/>
            </a:solidFill>
            <a:ln w="38100" cap="flat">
              <a:solidFill>
                <a:srgbClr val="1FA9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FA99A"/>
              </a:solidFill>
              <a:ln w="9525" cap="flat">
                <a:solidFill>
                  <a:srgbClr val="1FA9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original</c:v>
                  </c:pt>
                  <c:pt idx="1">
                    <c:v>leve</c:v>
                  </c:pt>
                  <c:pt idx="2">
                    <c:v>média</c:v>
                  </c:pt>
                  <c:pt idx="3">
                    <c:v>forte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0.886</c:v>
                </c:pt>
                <c:pt idx="1">
                  <c:v>0.82</c:v>
                </c:pt>
                <c:pt idx="2">
                  <c:v>0.666</c:v>
                </c:pt>
                <c:pt idx="3">
                  <c:v>0.419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5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5"/>
          <c:min val="0.3"/>
        </c:scaling>
        <c:delete val="0"/>
        <c:axPos val="l"/>
        <c:majorGridlines>
          <c:spPr>
            <a:ln w="9525" cap="flat">
              <a:solidFill>
                <a:srgbClr val="E3E7ED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3"/>
                </a:solidFill>
                <a:latin typeface="+mn-lt"/>
              </a:rPr>
              <a:t>Parte 5: IDF1 com o detector degradado (MOT17 teste)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 do detector</c:v>
                </c:pt>
              </c:strCache>
            </c:strRef>
          </c:tx>
          <c:spPr>
            <a:solidFill>
              <a:srgbClr val="F2A541"/>
            </a:solidFill>
            <a:ln w="38100" cap="flat">
              <a:solidFill>
                <a:srgbClr val="F2A54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F2A541"/>
              </a:solidFill>
              <a:ln w="9525" cap="flat">
                <a:solidFill>
                  <a:srgbClr val="F2A54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original</c:v>
                  </c:pt>
                  <c:pt idx="1">
                    <c:v>leve</c:v>
                  </c:pt>
                  <c:pt idx="2">
                    <c:v>média</c:v>
                  </c:pt>
                  <c:pt idx="3">
                    <c:v>forte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0.59</c:v>
                </c:pt>
                <c:pt idx="1">
                  <c:v>0.522</c:v>
                </c:pt>
                <c:pt idx="2">
                  <c:v>0.417</c:v>
                </c:pt>
                <c:pt idx="3">
                  <c:v>0.289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IoU ingênuo</c:v>
                </c:pt>
              </c:strCache>
            </c:strRef>
          </c:tx>
          <c:spPr>
            <a:solidFill>
              <a:srgbClr val="9AA3B2"/>
            </a:solidFill>
            <a:ln w="38100" cap="flat">
              <a:solidFill>
                <a:srgbClr val="9AA3B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9AA3B2"/>
              </a:solidFill>
              <a:ln w="9525" cap="flat">
                <a:solidFill>
                  <a:srgbClr val="9AA3B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original</c:v>
                  </c:pt>
                  <c:pt idx="1">
                    <c:v>leve</c:v>
                  </c:pt>
                  <c:pt idx="2">
                    <c:v>média</c:v>
                  </c:pt>
                  <c:pt idx="3">
                    <c:v>forte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0.41</c:v>
                </c:pt>
                <c:pt idx="1">
                  <c:v>0.335</c:v>
                </c:pt>
                <c:pt idx="2">
                  <c:v>0.202</c:v>
                </c:pt>
                <c:pt idx="3">
                  <c:v>0.09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Kalman</c:v>
                </c:pt>
              </c:strCache>
            </c:strRef>
          </c:tx>
          <c:spPr>
            <a:solidFill>
              <a:srgbClr val="7B6CD9"/>
            </a:solidFill>
            <a:ln w="38100" cap="flat">
              <a:solidFill>
                <a:srgbClr val="7B6CD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7B6CD9"/>
              </a:solidFill>
              <a:ln w="9525" cap="flat">
                <a:solidFill>
                  <a:srgbClr val="7B6CD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original</c:v>
                  </c:pt>
                  <c:pt idx="1">
                    <c:v>leve</c:v>
                  </c:pt>
                  <c:pt idx="2">
                    <c:v>média</c:v>
                  </c:pt>
                  <c:pt idx="3">
                    <c:v>forte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0.493</c:v>
                </c:pt>
                <c:pt idx="1">
                  <c:v>0.438</c:v>
                </c:pt>
                <c:pt idx="2">
                  <c:v>0.353</c:v>
                </c:pt>
                <c:pt idx="3">
                  <c:v>0.255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MotionRNN</c:v>
                </c:pt>
              </c:strCache>
            </c:strRef>
          </c:tx>
          <c:spPr>
            <a:solidFill>
              <a:srgbClr val="1FA99A"/>
            </a:solidFill>
            <a:ln w="38100" cap="flat">
              <a:solidFill>
                <a:srgbClr val="1FA9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FA99A"/>
              </a:solidFill>
              <a:ln w="9525" cap="flat">
                <a:solidFill>
                  <a:srgbClr val="1FA9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original</c:v>
                  </c:pt>
                  <c:pt idx="1">
                    <c:v>leve</c:v>
                  </c:pt>
                  <c:pt idx="2">
                    <c:v>média</c:v>
                  </c:pt>
                  <c:pt idx="3">
                    <c:v>forte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0.5</c:v>
                </c:pt>
                <c:pt idx="1">
                  <c:v>0.456</c:v>
                </c:pt>
                <c:pt idx="2">
                  <c:v>0.372</c:v>
                </c:pt>
                <c:pt idx="3">
                  <c:v>0.241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5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"/>
        </c:scaling>
        <c:delete val="0"/>
        <c:axPos val="l"/>
        <c:majorGridlines>
          <c:spPr>
            <a:ln w="9525" cap="flat">
              <a:solidFill>
                <a:srgbClr val="E3E7ED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3"/>
                </a:solidFill>
                <a:latin typeface="+mn-lt"/>
              </a:rPr>
              <a:t>De onde vêm os ID switches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Sintético (48 switches)</c:v>
                </c:pt>
              </c:strCache>
            </c:strRef>
          </c:tx>
          <c:spPr>
            <a:solidFill>
              <a:srgbClr val="9AA3B2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Oclusão longa</c:v>
                  </c:pt>
                  <c:pt idx="1">
                    <c:v>Fragmentação curta</c:v>
                  </c:pt>
                  <c:pt idx="2">
                    <c:v>Troca entre vizinhos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0.8125</c:v>
                </c:pt>
                <c:pt idx="1">
                  <c:v>0.1875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MOT17 (383 switches)</c:v>
                </c:pt>
              </c:strCache>
            </c:strRef>
          </c:tx>
          <c:spPr>
            <a:solidFill>
              <a:srgbClr val="F25F5C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Oclusão longa</c:v>
                  </c:pt>
                  <c:pt idx="1">
                    <c:v>Fragmentação curta</c:v>
                  </c:pt>
                  <c:pt idx="2">
                    <c:v>Troca entre vizinhos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0.3002610966057441</c:v>
                </c:pt>
                <c:pt idx="1">
                  <c:v>0.30809399477806787</c:v>
                </c:pt>
                <c:pt idx="2">
                  <c:v>0.391644908616188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5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1"/>
        <c:axPos val="b"/>
        <c:majorGridlines>
          <c:spPr>
            <a:ln w="9525" cap="flat">
              <a:solidFill>
                <a:srgbClr val="E3E7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O objetivo do PA2 é sair da detecção quadro a quadro (o que o detector vê em cada imagem) para a identidade ao longo do tempo: saber que a pessoa do quadro 10 é a mesma do quadro 200. Escolhemos a Trilha A: uma RNN que aprende o movimento de cada objeto e ajuda a associar detecções entre quadros.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 em 4 passos. 1) O detector é congelado: usamos as detecções prontas do MOT17 (FRCNN) ou o simulador no sintético. 2) Cada track tem um estado GRU que prevê onde o objeto estará no próximo quadro, com uma variância. 3) Associamos detecções a tracks pelo IoU com a caixa prevista, e aceitamos também pares com IoU baixo se a distância de Mahalanobis (usando a variância prevista) for pequena — é o 'portão adaptativo', que abre quando a incerteza cresce numa oclusão. Matching guloso: confirmadas primeiro, depois tentativas. 4) Uma detecção sem par nasce como tentativa e vira confirmada após min_hits; uma track confirmada morre após max_age quadros sem ser vista; enquanto ocluída, a RNN roda para frente alimentada pela própria previsão.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métricas foram escritas do zero em metrics.py. IDF1: casamos ids previstos com ids verdadeiros usando o Hungarian sobre o número de quadros em comum (IoU &gt;= 0,5), e IDF1 = 2·IDTP / (2·IDTP + IDFP + IDFN). ID switch: conta quando o id previsto associado a um objeto verdadeiro muda entre quadros. Fragmentação: quando a cobertura de um objeto é interrompida e retomada. Os testes (a), (b), (c) mostram que IDSW e IDF1 medem coisas diferentes: (b) troca no meio — 2 switches, IDF1 0,5; (c) partição — 1 switch, 1 fragmentação, IDF1 0,769 e uma identidade a mais.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Construímos o próprio gerador para controlar cada fator isoladamente. A visibilidade é calculada pela fração de pixels da elipse que continuam visíveis — o mesmo campo visibility do MOT17. A varredura mostrou: mais objetos derruba pouco (0,92 → 0,79), velocidade derruba muito (0,91 → 0,45) porque com caixas de ~10 px o IoU entre quadros some, e oclusão derruba no primeiro degrau e satura, porque com k=3 qualquer oclusão &gt; 3 quadros já vira id novo.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Mensagem central da Parte 1: medir só o detector engana. Em 10 vídeos de dificuldade crescente, o mAP fica quase plano mas o IDF1 cai pela metade, a razão ids previstas / ids verdadeiros sobe de 1,0 para 2,05 e os switches por identidade vão de 0 a 1,8. A associação ingênua usa a última caixa observada como referência: com movimento rápido o IoU não fecha e, na oclusão, a referência fica parada. Escolhemos os hiperparâmetros na validação (sementes 2000+), nunca no teste. O Hungarian maximiza o número de pares e acaba aceitando casamentos ruins que o guloso deixaria livres.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que Trilha A: ela treina só com trajetórias da ground truth e roda só com o det.txt — não precisa das imagens. A recorrência carrega, por track, a memória do movimento: velocidade, aceleração, quicadas. A entrada é relativa (deltas normalizados pela altura), então o modelo vale para qualquer posição e escala. A saída é uma gaussiana: média e variância do próximo deslocamento. Treinamos com scheduled sampling — às vezes alimentamos a própria previsão em vez da observação — para o modelo aprender a andar sozinho durante oclusões. A perda de NLL treina a variância a ser honesta, e é essa variância que define o portão adaptativo de associação.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sintético a RNN vence com folga: IDF1 0,886 contra 0,813 do Kalman e 0,749 do IoU ingênuo; switches caem de 222 para 41. A explicação: o baseline falha porque usa a caixa do quadro anterior (com movimento rápido não fecha IoU) e porque na oclusão a referência fica parada. A RNN prevê onde o objeto vai estar e continua extrapolando sob oclusão, com incerteza crescente. Ela também aprende as quicadas nas bordas, que o Kalman de velocidade constante não modela — a 6 px/q o IDF1 é 0,45 (IoU), 0,45 (Kalman), 0,71 (RNN).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 do enunciado. A analogia com o PA1: lá o tile cortava objetos na borda; aqui a janela temporal corta identidades. Se zerarmos o estado entre janelas, toda track ativa vira id novo — infla a contagem e cria switches. A solução natural é carregar o estado adiante, que é exatamente o que o BPTT truncado faz no treino. Alternativas: janelas sobrepostas com costura por Hungarian, e usar a variância prevista como portão para reconectar tracks ocluídas na fronteira.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Ablação: RNN simples, LSTM e GRU com o mesmo número de parâmetros na célula, janelas T de 4 a 32, 3 sementes. A GRU vence por pouco em todo T, mas a diferença entre células (0,5–1 ponto) é do tamanho do desvio. O que domina é T: de 0,80 em T=4 para 0,88 em T=32. O gradiente analítico confirma a teoria — na RNN simples cai 44× em 30 passos, na GRU só 5× — mas a tarefa de prever movimento precisa de poucos quadros de memória. Com T=4 nem a GRU recebe supervisão que atravesse uma oclusão de 8 quadros. Detalhe para a LSTM: o gradiente em h cai rápido, mas a memória longa dela está na célula c, que decai bem mais devagar.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Galeria de falhas numa suíte com oclusões de 4 a 32 quadros. Dos 48 switches, 39 vêm de oclusões mais longas que max_age (30) e que os buracos vistos no treino (até 12). A figura mostra a elipse de incerteza crescendo — o modelo sabe que está extrapolando — mas a track morre antes do objeto voltar. Os outros 9 são fragmentações curtas em aglomerados: geometria sozinha não separa dois objetos colados, precisaria de aparência.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Correção com controle. Diagnóstico: oclusão maior que max_age e maior que os buracos vistos no treino. Mudança: retreinar com T=48 e buracos de até 40 quadros, e usar max_age 60. Para separar os dois efeitos, um controle muda só o max_age. Resultado: sobrevivência em oclusões de 32–47 quadros vai de 0% para 72% (controle) e 83% (corrigido). No teste padrão o corrigido também melhora: IDF1 0,892, switches 41 → 32.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Estresse sem retreinar: degradamos o detector em três níveis (drop, ruído de caixa, falsos positivos). Em leve e média a RNN absorve — o IDF1 relativo cai menos que o mAP relativo. Na forte ela amplifica: switches multiplicam por 13 e o Kalman, com ruído de processo explícito, degrada com mais suavidade. Motivo: ruído de 10% está fora da distribuição de treino. Correção natural: treinar com ruído variável ou usar o score como confiança da observação. Pergunta extra da taxa de quadros: um modelo treinado com Δt fixo aprende 'deslocamento por passo'; subamostrar quebra isso; dar Δt como entrada só ajuda se o treino vir vários Δt.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Agora o MOT17 real, nas sequências de teste 10 e 13, com as detecções públicas FRCNN. O mAP do detector é só 0,59: o problema já começa difícil. O IoU ingênuo cria 3,3 vezes mais ids do que existem. Kalman e RNN ficam praticamente empatados: a RNN tem IDF1 0,500 contra 0,493 e 383 contra 397 switches. Temos que ser honestos: no sintético a vantagem da RNN vinha de movimento não linear (quicadas, aceleração aleatória). Pedestres andam quase em linha reta, e aí o Kalman de velocidade constante já captura quase tudo. Além disso o Kalman preserva mais oclusões e erra menos a contagem; a RNN fragmenta mais. Mas são só cerca de 45 eventos de oclusão em 2 sequências, então essa diferença tem muita variância. Também rodamos o detector do torchvision (Faster R-CNN v2) na GPU do Mac. Ele tem mAP 0,647, bem acima do FRCNN público, e mesmo assim o IoU ingênuo piora (0,410 → 0,372), porque o detector gera quase o dobro de caixas e a associação ingênua se confunde mais. A RNN é a única que aproveita o detector melhor: IDF1 0,517 e 350 switches, contra 513 do Kalman. É o descolamento da Parte 1 na direção oposta: detector melhor não conserta a identidade.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Rodamos as mesmas Partes 3, 4 e 5 no MOT17. Ablação: a validação é uma única sequência (MOT17-09), então o IDF1 oscila entre 0,51 e 0,59 sem tendência clara entre células ou janelas — não dá para concluir nada sobre a célula. O que se repete é que a sobrevivência à oclusão cresce com T. Correção da Parte 4: aumentar T, buracos de treino e max_age melhora a sobrevivência à oclusão de 40% para 51%, mas manter tracks vivas por mais tempo também gera mais trocas em cenas densas, e o IDF1 fica igual. O próximo slide mostra por quê. Estresse: o padrão do sintético se repete — a RNN absorve degradação leve e média e perde para o Kalman na forte.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Galeria de falhas no MOT17 real. No sintético, 39 de 48 switches vinham de oclusão longa. No MOT17 os 383 switches se dividem em três partes parecidas: 115 de oclusão longa, 118 de fragmentação curta e 150 de troca entre vizinhos — o maior grupo. A figura mostra um caso típico: pessoas andando lado a lado, a detecção do id 45 some por 8 quadros sem que ele esteja ocluído, a previsão da RNN desliza e quando a detecção volta ela é capturada por outra track. Isso explica por que a correção da Parte 4 (feita para oclusão longa) melhora a sobrevivência à oclusão mas não o IDF1: ela ataca só 30% dos erros. Para multidão seria preciso aparência (Trilha B ou um embedding de re-identificação).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Fechamento. Quatro lições: 1) detecção boa não garante identidade; 2) um modelo de movimento aprendido, com incerteza, melhora muito a associação quando o movimento é não linear; no MOT17, com pedestres quase lineares e detecções ruidosas, o ganho sobre o Kalman é pequeno; 3) o horizonte de memória é limitado pelo que o treino supervisiona; 4) sem aparência e fora da distribuição de treino a RNN tem limites claros. Tudo é reproduzível com run_all.sh.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image" Target="../media/image-7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PA2 — Identidade ao longo do tempo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Detecção, recorrência e rastreamento multiobjeto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Trilha A: RNN como modelo de movimento</a:t>
            </a:r>
            <a:endParaRPr lang="en-US" sz="2000" dirty="0"/>
          </a:p>
        </p:txBody>
      </p:sp>
      <p:sp>
        <p:nvSpPr>
          <p:cNvPr id="4" name="tag-1"/>
          <p:cNvSpPr txBox="1"/>
          <p:nvPr/>
        </p:nvSpPr>
        <p:spPr>
          <a:xfrm>
            <a:off x="731520" y="1371600"/>
            <a:ext cx="114300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id 1</a:t>
            </a:r>
            <a:endParaRPr lang="en-US" sz="1200" dirty="0"/>
          </a:p>
        </p:txBody>
      </p:sp>
      <p:sp>
        <p:nvSpPr>
          <p:cNvPr id="5" name="tag-2"/>
          <p:cNvSpPr txBox="1"/>
          <p:nvPr/>
        </p:nvSpPr>
        <p:spPr>
          <a:xfrm>
            <a:off x="2011680" y="1371600"/>
            <a:ext cx="114300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id 2</a:t>
            </a:r>
            <a:endParaRPr lang="en-US" sz="1200" dirty="0"/>
          </a:p>
        </p:txBody>
      </p:sp>
      <p:sp>
        <p:nvSpPr>
          <p:cNvPr id="6" name="tag-3"/>
          <p:cNvSpPr txBox="1"/>
          <p:nvPr/>
        </p:nvSpPr>
        <p:spPr>
          <a:xfrm>
            <a:off x="3291840" y="1371600"/>
            <a:ext cx="114300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id 3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Dupla: Yoni Rabinovici Gherman · ____________________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Detectar bem não é rastrear bem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 detector responde "onde há uma pessoa neste quadro". O rastreador precisa responder "qual pessoa é esta, desde o começo do vídeo" — inclusive quando ela some atrás de algo.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51460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60604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46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Detector congelado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576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caixas por quadro (det.txt / simulador)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127248" y="3291840"/>
            <a:ext cx="246888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0" name="Shape 8"/>
          <p:cNvSpPr/>
          <p:nvPr/>
        </p:nvSpPr>
        <p:spPr>
          <a:xfrm>
            <a:off x="3429000" y="2377440"/>
            <a:ext cx="251460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2606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246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Previsão por track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36576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uma GRU por identidade prevê a próxima caixa + incerteza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07608" y="3291840"/>
            <a:ext cx="246888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6" name="Shape 14"/>
          <p:cNvSpPr/>
          <p:nvPr/>
        </p:nvSpPr>
        <p:spPr>
          <a:xfrm>
            <a:off x="6309360" y="2377440"/>
            <a:ext cx="251460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7" name="Shape 15"/>
          <p:cNvSpPr/>
          <p:nvPr/>
        </p:nvSpPr>
        <p:spPr>
          <a:xfrm>
            <a:off x="6537960" y="260604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3796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3246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Associação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36576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IoU + portão de Mahalanobis, matching guloso em 2 estágios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887968" y="3291840"/>
            <a:ext cx="246888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22" name="Shape 20"/>
          <p:cNvSpPr/>
          <p:nvPr/>
        </p:nvSpPr>
        <p:spPr>
          <a:xfrm>
            <a:off x="9189720" y="2377440"/>
            <a:ext cx="251460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23" name="Shape 21"/>
          <p:cNvSpPr/>
          <p:nvPr/>
        </p:nvSpPr>
        <p:spPr>
          <a:xfrm>
            <a:off x="9418320" y="26060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1832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0" y="3246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Gestão de tracks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9418320" y="36576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nascimento após min_hits, morte após max_age sem observação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484632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FF4E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77240" y="498348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Regras do enunciado: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nenhum rastreador pronto, nenhuma métrica de biblioteca, NMS próprio. Kalman só como baseline.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Dados: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ambiente sintético próprio (elipses + poste opaco) e MOT17 (split por sequência: treino 02/04/05/11, val 09, teste 10/13).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Parte 0 — Métricas escritas do zero</a:t>
            </a:r>
            <a:endParaRPr lang="en-US" sz="3200" dirty="0"/>
          </a:p>
        </p:txBody>
      </p:sp>
      <p:sp>
        <p:nvSpPr>
          <p:cNvPr id="3" name="tag-4"/>
          <p:cNvSpPr txBox="1"/>
          <p:nvPr/>
        </p:nvSpPr>
        <p:spPr>
          <a:xfrm>
            <a:off x="548640" y="1325880"/>
            <a:ext cx="114300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IDF1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74520" y="130759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fração de quadros com a identidade certa, sob a melhor atribuição global id previsto ↔ id verdadeiro</a:t>
            </a:r>
            <a:endParaRPr lang="en-US" sz="1400" dirty="0"/>
          </a:p>
        </p:txBody>
      </p:sp>
      <p:sp>
        <p:nvSpPr>
          <p:cNvPr id="5" name="tag-5"/>
          <p:cNvSpPr txBox="1"/>
          <p:nvPr/>
        </p:nvSpPr>
        <p:spPr>
          <a:xfrm>
            <a:off x="548640" y="2331720"/>
            <a:ext cx="114300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ID switch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231343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evento: o id previsto de um objeto verdadeiro muda</a:t>
            </a:r>
            <a:endParaRPr lang="en-US" sz="1400" dirty="0"/>
          </a:p>
        </p:txBody>
      </p:sp>
      <p:sp>
        <p:nvSpPr>
          <p:cNvPr id="7" name="tag-6"/>
          <p:cNvSpPr txBox="1"/>
          <p:nvPr/>
        </p:nvSpPr>
        <p:spPr>
          <a:xfrm>
            <a:off x="548640" y="3337560"/>
            <a:ext cx="114300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Fragmentação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331927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track de um objeto é interrompida e retomada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325880"/>
          <a:ext cx="56692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731520"/>
                <a:gridCol w="731520"/>
                <a:gridCol w="914400"/>
                <a:gridCol w="914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caso de teste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IDSW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Frag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IDF1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contagem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(a) predição = gt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1,000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(b) 2 objetos trocam ids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0,500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(c) 1 objeto partido em 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0,769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+1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943600" y="3108960"/>
            <a:ext cx="566928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172200" y="3218688"/>
            <a:ext cx="5257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Por que (b) ≠ (c)?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troca estraga duas identidades sem mudar a contagem; a partição estraga uma e cria uma identidade a mais. IDSW conta eventos, IDF1 conta quadros — medem coisas diferentes.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457200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D8F1E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22960" y="45262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0,990</a:t>
            </a:r>
            <a:endParaRPr lang="en-US" sz="44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5394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IDF1 do IoU ingênuo no caso fácil (sanidade)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023360" y="49834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Os três testes de pytest passam (tests/test_metrics.py). Também implementamos MOTA, mAP, NMS e sobrevivência à oclusão em metrics.py.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Parte 0 — Ambiente sintético com oclusão real</a:t>
            </a:r>
            <a:endParaRPr lang="en-US" sz="3200" dirty="0"/>
          </a:p>
        </p:txBody>
      </p:sp>
      <p:pic>
        <p:nvPicPr>
          <p:cNvPr id="3" name="Objeto ocluído pelo poste" descr="Objeto ocluído pelo pos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11064240" cy="359587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87603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O objeto 3 some atrás do poste por 13 quadros (visibilidade = 0) e volta.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12064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Gerador: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vídeos 128×128, 5–15 elipses com profundidade (algoritmo do pintor) e um poste opaco. Botões: nº de objetos, velocidade, duração da oclusão.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Detector simulado: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perde caixas, ruído ∝ tamanho, falsos positivos Poisson, duplicatas (removidas pelo NMS próprio).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O que mais quebra o baseline: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velocidade. IDF1 do IoU ingênuo cai de 0,91 (0,5 px/q) para 0,45 (6 px/q).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Parte 1 — O detector continua bom; a identidade desaba</a:t>
            </a:r>
            <a:endParaRPr lang="en-US" sz="3200" dirty="0"/>
          </a:p>
        </p:txBody>
      </p:sp>
      <p:pic>
        <p:nvPicPr>
          <p:cNvPr id="3" name="Descolamento mAP vs IDF1" descr="Descolamento mAP vs IDF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675120" cy="46725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680960" y="12801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0,92 → 0,82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680960" y="21488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mAP do detector (quase estável)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7680960" y="26974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0,96 → 0,48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35661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IDF1 do IoU ingênuo (cai pela metade)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680960" y="4206240"/>
            <a:ext cx="39319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63840" y="4343400"/>
            <a:ext cx="3566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Associação ingênua: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IoU com a última caixa, limiar fixo, morte após k quadros. Hiperparâmetros escolhidos na validação: guloso, IoU ≥ 0,1, k = 3. Surpresa: guloso venceu o Hungarian, que força pares de IoU baixo.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Parte 2 — MotionRNN: uma GRU por track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47472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4" name="tag-7"/>
          <p:cNvSpPr txBox="1"/>
          <p:nvPr/>
        </p:nvSpPr>
        <p:spPr>
          <a:xfrm>
            <a:off x="777240" y="1463040"/>
            <a:ext cx="114300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Entrada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20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Entrada por quadro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Δcx/h, Δcy/h, Δlog w, Δlog h (invariante a posição e escala)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flag observado, score, cy/H, log(h/H)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280160"/>
            <a:ext cx="347472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8" name="tag-8"/>
          <p:cNvSpPr txBox="1"/>
          <p:nvPr/>
        </p:nvSpPr>
        <p:spPr>
          <a:xfrm>
            <a:off x="4526280" y="1463040"/>
            <a:ext cx="1143000" cy="31089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Saída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1920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Saída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4231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μ e log σ² do deslocamento até o próximo quadro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σ² vira o portão de associação: cresce na oclusão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1280160"/>
            <a:ext cx="347472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12" name="tag-9"/>
          <p:cNvSpPr txBox="1"/>
          <p:nvPr/>
        </p:nvSpPr>
        <p:spPr>
          <a:xfrm>
            <a:off x="8275320" y="1463040"/>
            <a:ext cx="114300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Treino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75320" y="1920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Treino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4231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só trajetórias da gt + ruído de detector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buracos simulados até 12 quadros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scheduled sampling 0 → 0,3; BPTT T = 16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perda: Smooth-L1(μ) + NLL gaussiana(σ²)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FF4E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75488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Sob oclusão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track é alimentada com a própria previsão (observado = 0): o estado continua andando, a incerteza cresce e o portão de Mahalanobis (χ²₄ 99% = 13,28) abre para reencontrar o objeto quando ele volta. GRU com h = 61, ~13 mil parâmetros na célula.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Parte 2 — Resultado no sintético (30 vídeos de teste)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188720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297680" y="1188720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8321040" y="12801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3,5% → 91%</a:t>
            </a:r>
            <a:endParaRPr lang="en-US" sz="4400" dirty="0"/>
          </a:p>
        </p:txBody>
      </p:sp>
      <p:sp>
        <p:nvSpPr>
          <p:cNvPr id="6" name="Text 2"/>
          <p:cNvSpPr txBox="1"/>
          <p:nvPr/>
        </p:nvSpPr>
        <p:spPr>
          <a:xfrm>
            <a:off x="8321040" y="21488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oclusões com a identidade preservada (IoU ingênuo → RNN)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8321040" y="27432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</a:rPr>
              <a:t>1,51 → 1,11</a:t>
            </a:r>
            <a:endParaRPr lang="en-US" sz="4400" dirty="0"/>
          </a:p>
        </p:txBody>
      </p:sp>
      <p:sp>
        <p:nvSpPr>
          <p:cNvPr id="8" name="Text 4"/>
          <p:cNvSpPr txBox="1"/>
          <p:nvPr/>
        </p:nvSpPr>
        <p:spPr>
          <a:xfrm>
            <a:off x="8321040" y="36118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ids previstos / ids verdadeiros</a:t>
            </a:r>
            <a:endParaRPr lang="en-US" sz="1300" dirty="0"/>
          </a:p>
        </p:txBody>
      </p:sp>
      <p:pic>
        <p:nvPicPr>
          <p:cNvPr id="9" name="Previsão atravessando o poste" descr="Previsão atravessando o pos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206240"/>
            <a:ext cx="10149840" cy="191719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005840" y="616915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Verde: gt · vermelho: previsão da RNN atravessando o poste · cinza: IoU ingênuo parado na última caixa.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Pergunta: inferência em janelas de T quadros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03520" cy="2011680"/>
          </a:xfrm>
          <a:prstGeom prst="roundRect">
            <a:avLst>
              <a:gd name="adj" fmla="val 3636"/>
            </a:avLst>
          </a:prstGeom>
          <a:solidFill>
            <a:srgbClr val="FDE3E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O problema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4846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PA1 a borda do tile cortava objetos. Aqui a borda da janela corta identidades: toda track viva renasce com outro id, inflando a contagem e gerando um switch por track em cada fronteira. Zerar o estado também perde a velocidade e a memória das tracks ocluídas.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09360" y="1325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30936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040880" y="13075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Passar o estado adiante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040880" y="1709928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como no BPTT truncado: inferência causal, custo O(#tracks vivas), não O(T). O estado é pequeno (61 floats + última caixa).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283464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0936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28163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Janelas sobrepostas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3218688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costurar ids por IoU/Mahalanobis nos quadros em comum (Hungarian entre tracks).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434340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0936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040880" y="43251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Tracks ocluídas na borda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4727448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usar a previsão + variância da RNN como portão para casar com tracks que nascem na próxima janela.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566160"/>
            <a:ext cx="530352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3675888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Resposta curta: o estado de uma track é explícito e barato — dá para carregá-lo de uma janela para a outra. O mecanismo de costura é o mesmo da reidentificação após oclusão.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Parte 3 — A célula importa menos que a janela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54864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005840"/>
                <a:gridCol w="1005840"/>
                <a:gridCol w="10058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IDF1 (val.)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 = 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 = 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 = 16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 = 32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RNN simples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0,803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0,859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0,876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0,883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LSTM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0,807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0,849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0,879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0,884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GRU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1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0,807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1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0,867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1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0,884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1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0,885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1EE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2880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3 células com ~13k parâmetros × 4 janelas de BPTT × 3 sementes = 36 treinos (sintético).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2461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44× vs 5×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1148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queda do gradiente em 30 passos: RNN simples vs GRU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484632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D8F1E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4956048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Bate com a aula (gradiente que some), mas a tarefa precisa de pouca memória: estimar velocidade usa poucos quadros. O gargalo é T — de onde vem o sinal de supervisão — não a célula.</a:t>
            </a:r>
            <a:endParaRPr lang="en-US" sz="1400" dirty="0"/>
          </a:p>
        </p:txBody>
      </p:sp>
      <p:pic>
        <p:nvPicPr>
          <p:cNvPr id="9" name="Horizonte do gradiente" descr="Horizonte do gradien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280160"/>
            <a:ext cx="5212080" cy="31272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0" y="44348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‖∂L_t/∂h_{t−k}‖ por k. Na LSTM a memória longa está em c (pontilhado), não em h.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Parte 4 — Onde a identidade se perde</a:t>
            </a:r>
            <a:endParaRPr lang="en-US" sz="3200" dirty="0"/>
          </a:p>
        </p:txBody>
      </p:sp>
      <p:pic>
        <p:nvPicPr>
          <p:cNvPr id="3" name="Falha por oclusão longa" descr="Falha por oclusão long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11064240" cy="214146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37590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Falha 1: objeto ocluído por 49 quadros. A elipse de incerteza (2σ) cresce até a track morrer em max_age = 30.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7033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39 de 48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5720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ID switches vêm de oclusão mais longa que max_age e que os buracos vistos no treino (≤ 12)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035040" y="3749040"/>
            <a:ext cx="557784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263640" y="388620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Oclusão longa (2 de 3 exemplos):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modelo "sabe" que extrapola — a incerteza cresce — mas nunca foi supervisionado num buraco desse tamanho.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Fragmentação em aglomerado: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dois objetos colados; a previsão desliza para o vizinho. Falha de aparência, não de memória.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Parte 4 — Correção testada contra um controle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188720"/>
          <a:ext cx="60350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280160"/>
          <a:ext cx="46634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IDF1 teste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IDSW teste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Final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0,886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Só max_age = 60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0,887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Corrigido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1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0,892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1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1EE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6949440" y="2971800"/>
            <a:ext cx="4663440" cy="1600200"/>
          </a:xfrm>
          <a:prstGeom prst="roundRect">
            <a:avLst>
              <a:gd name="adj" fmla="val 4571"/>
            </a:avLst>
          </a:prstGeom>
          <a:solidFill>
            <a:srgbClr val="D8F1EE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7132320" y="310896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diagnóstico estava certo nas duas metades: a maior parte do ganho vem de não matar a track; o retreino com buracos longos acrescenta +11 pontos de sobrevivência e −7 switches, sem piorar o caso comum.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Parte 5 — Detector degradado: absorve ou amplifica?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188720"/>
          <a:ext cx="65836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498080" y="1280160"/>
            <a:ext cx="4114800" cy="2011680"/>
          </a:xfrm>
          <a:prstGeom prst="roundRect">
            <a:avLst>
              <a:gd name="adj" fmla="val 3636"/>
            </a:avLst>
          </a:prstGeom>
          <a:solidFill>
            <a:srgbClr val="D8F1E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26680" y="1417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Leve e média: absorve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726680" y="182880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Na média o mAP cai 34% e o IDF1 da RNN só 25%: detecções perdidas viram "oclusões curtas" e o portão rejeita FPs isolados.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498080" y="3566160"/>
            <a:ext cx="4114800" cy="2194560"/>
          </a:xfrm>
          <a:prstGeom prst="roundRect">
            <a:avLst>
              <a:gd name="adj" fmla="val 3333"/>
            </a:avLst>
          </a:prstGeom>
          <a:solidFill>
            <a:srgbClr val="FDE3E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26680" y="3703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Forte: amplifica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26680" y="411480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Switches ×13 (41 → 543) e perde para o Kalman. Ruído de 10% está fora do treino (4%): a velocidade estimada erra e a extrapolação puxa a track para FPs.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Parte 2 — No MOT17 real (teste: sequências 10 e 13)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69494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22960"/>
                <a:gridCol w="822960"/>
                <a:gridCol w="822960"/>
                <a:gridCol w="1097280"/>
                <a:gridCol w="1005840"/>
                <a:gridCol w="8229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rastreador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IDF1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IDSW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Frag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ids prev./verd.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oclusões c/ id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mAP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IoU ingênuo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0,410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591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563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3,34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17%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0,590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Kalman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0,493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397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640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0,86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51%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0,590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MotionRNN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1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0,500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1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383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1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598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1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1,63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1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40%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1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0,590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1EE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0632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Detecções: FRCNN público (mAP médio 0,542; DPM 0,415, SDP 0,652, torchvision 0,647). Trocando pelo torchvision: RNN 0,517 (350 switches), mas o IoU ingênuo piora para 0,372.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48640" y="3794760"/>
            <a:ext cx="6949440" cy="1965960"/>
          </a:xfrm>
          <a:prstGeom prst="roundRect">
            <a:avLst>
              <a:gd name="adj" fmla="val 3721"/>
            </a:avLst>
          </a:prstGeom>
          <a:solidFill>
            <a:srgbClr val="FFF4E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3950208"/>
            <a:ext cx="6492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RNN ≈ Kalman: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IDF1 0,500 vs 0,493 e 383 vs 397 switches. O ganho é bem menor que no sintético.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Por quê: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pedestres andam quase em linha reta, então velocidade constante já é um bom modelo e sobra pouca dinâmica para a RNN aprender.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Onde a RNN perde: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Kalman preserva mais oclusões (51% vs 40%) e acerta melhor a contagem (a RNN cria 1,6× ids). A amostra é pequena: ~45 oclusões em 2 sequências.</a:t>
            </a:r>
            <a:endParaRPr lang="en-US" sz="1400" dirty="0"/>
          </a:p>
        </p:txBody>
      </p:sp>
      <p:pic>
        <p:nvPicPr>
          <p:cNvPr id="7" name="Descolamento no MOT17" descr="Descolamento no MOT1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280160"/>
            <a:ext cx="3749040" cy="262432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863840" y="39502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Parte 1 no MOT17: mAP e IDF1 por sequência, ordenadas por densidade.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No MOT17 — ablação, correção e estresse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188720"/>
          <a:ext cx="53949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309360" y="1234440"/>
            <a:ext cx="5303520" cy="1508760"/>
          </a:xfrm>
          <a:prstGeom prst="roundRect">
            <a:avLst>
              <a:gd name="adj" fmla="val 4848"/>
            </a:avLst>
          </a:prstGeom>
          <a:solidFill>
            <a:srgbClr val="D8F1E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92240" y="13441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Parte 3 · ablação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92240" y="1673352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Validação = 1 sequência (09), então o IDF1 é ruidoso (0,51–0,59, sem tendência). O sinal consistente: a sobrevivência à oclusão sobe com T (GRU: 17% em T=4 → 65% em T≥8). De novo, a janela importa mais que a célula.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309360" y="2880360"/>
            <a:ext cx="5303520" cy="1508760"/>
          </a:xfrm>
          <a:prstGeom prst="roundRect">
            <a:avLst>
              <a:gd name="adj" fmla="val 4848"/>
            </a:avLst>
          </a:prstGeom>
          <a:solidFill>
            <a:srgbClr val="FDE3E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92240" y="299008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Parte 4 · correção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492240" y="3319272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T=48 + buracos ≤ 40 + max_age 60: oclusões preservadas 40% → 51% e contagem bem melhor (1,63 → 1,17 ids por pessoa), mas o IDF1 não se mexe (0,500 → 0,503) e os switches sobem (383 → 444).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09360" y="4526280"/>
            <a:ext cx="5303520" cy="1508760"/>
          </a:xfrm>
          <a:prstGeom prst="roundRect">
            <a:avLst>
              <a:gd name="adj" fmla="val 4848"/>
            </a:avLst>
          </a:prstGeom>
          <a:solidFill>
            <a:srgbClr val="EEF2F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92240" y="46360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Parte 5 · estresse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492240" y="4965192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Mesmo padrão do sintético: a RNN supera o Kalman em degradação leve e média e perde na forte (0,241 vs 0,255).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No MOT17 — as falhas são outras</a:t>
            </a:r>
            <a:endParaRPr lang="en-US" sz="3200" dirty="0"/>
          </a:p>
        </p:txBody>
      </p:sp>
      <p:pic>
        <p:nvPicPr>
          <p:cNvPr id="3" name="Troca entre vizinhos no MOT17-10" descr="Troca entre vizinhos no MOT17-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11064240" cy="214146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37590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MOT17-10: pedestres lado a lado. A detecção some por 8 quadros, a previsão (vermelho) desliza e o id 45 vira 47 sem nenhuma oclusão.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3703320"/>
          <a:ext cx="603504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6949440" y="3794760"/>
            <a:ext cx="4663440" cy="2423160"/>
          </a:xfrm>
          <a:prstGeom prst="roundRect">
            <a:avLst>
              <a:gd name="adj" fmla="val 3019"/>
            </a:avLst>
          </a:prstGeom>
          <a:solidFill>
            <a:srgbClr val="FFF4E3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7178040" y="393192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Por isso a correção não move o IDF1: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ela ataca a oclusão longa, que no sintético era 81% dos erros e no MOT17 é só 30%. O resto vem de multidão: vizinhos colados e detecções que piscam. Geometria sozinha não separa duas pessoas lado a lado; o próximo passo seria uma pista de aparência.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O que levamos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60020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1D2C44"/>
          </a:solidFill>
          <a:ln/>
        </p:spPr>
      </p:sp>
      <p:sp>
        <p:nvSpPr>
          <p:cNvPr id="4" name="tag-10"/>
          <p:cNvSpPr txBox="1"/>
          <p:nvPr/>
        </p:nvSpPr>
        <p:spPr>
          <a:xfrm>
            <a:off x="1005840" y="1828800"/>
            <a:ext cx="114300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id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2402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Detecção ≠ identidade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6517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mAP estável enquanto o IDF1 cai pela metade. É preciso medir a identidade.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1D2C44"/>
          </a:solidFill>
          <a:ln/>
        </p:spPr>
      </p:sp>
      <p:sp>
        <p:nvSpPr>
          <p:cNvPr id="8" name="tag-11"/>
          <p:cNvSpPr txBox="1"/>
          <p:nvPr/>
        </p:nvSpPr>
        <p:spPr>
          <a:xfrm>
            <a:off x="6492240" y="1828800"/>
            <a:ext cx="1143000" cy="31089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id 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2402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Movimento aprendido ajuda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6517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No sintético a RNN corta switches de 131 (Kalman) para 41. No MOT17 o ganho é pequeno.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79476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1D2C44"/>
          </a:solidFill>
          <a:ln/>
        </p:spPr>
      </p:sp>
      <p:sp>
        <p:nvSpPr>
          <p:cNvPr id="12" name="tag-12"/>
          <p:cNvSpPr txBox="1"/>
          <p:nvPr/>
        </p:nvSpPr>
        <p:spPr>
          <a:xfrm>
            <a:off x="1005840" y="4023360"/>
            <a:ext cx="114300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id 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4434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Memória vem do treino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48463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 janela de BPTT e os buracos vistos no treino limitam o horizonte mais que a célula.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379476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1D2C44"/>
          </a:solidFill>
          <a:ln/>
        </p:spPr>
      </p:sp>
      <p:sp>
        <p:nvSpPr>
          <p:cNvPr id="16" name="tag-13"/>
          <p:cNvSpPr txBox="1"/>
          <p:nvPr/>
        </p:nvSpPr>
        <p:spPr>
          <a:xfrm>
            <a:off x="6492240" y="4023360"/>
            <a:ext cx="114300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id 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4434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Limites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8463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No MOT17, 39% dos switches são trocas entre vizinhos: sem aparência, a geometria não separa pessoas coladas.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6126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Código, métricas e figuras: github.com/yonirg/Assignment-2-DL · bash run_all.sh {synth | mot17}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2 Tracking">
  <a:themeElements>
    <a:clrScheme name="PA2 Tracking">
      <a:dk1>
        <a:srgbClr val="1B2433"/>
      </a:dk1>
      <a:lt1>
        <a:srgbClr val="FFFFFF"/>
      </a:lt1>
      <a:dk2>
        <a:srgbClr val="0F1B2D"/>
      </a:dk2>
      <a:lt2>
        <a:srgbClr val="EEF2F7"/>
      </a:lt2>
      <a:accent1>
        <a:srgbClr val="1FA99A"/>
      </a:accent1>
      <a:accent2>
        <a:srgbClr val="F25F5C"/>
      </a:accent2>
      <a:accent3>
        <a:srgbClr val="F2A541"/>
      </a:accent3>
      <a:accent4>
        <a:srgbClr val="7B6CD9"/>
      </a:accent4>
      <a:accent5>
        <a:srgbClr val="9AA3B2"/>
      </a:accent5>
      <a:accent6>
        <a:srgbClr val="5B6578"/>
      </a:accent6>
      <a:hlink>
        <a:srgbClr val="1FA99A"/>
      </a:hlink>
      <a:folHlink>
        <a:srgbClr val="7B6CD9"/>
      </a:folHlink>
    </a:clrScheme>
    <a:fontScheme name="PA2 Tracking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PA2 — Identidade ao longo do tempo</dc:title>
  <dc:subject>PptxGenJS Presentation</dc:subject>
  <dc:creator>PptxGenJS</dc:creator>
  <cp:lastModifiedBy>PptxGenJS</cp:lastModifiedBy>
  <cp:revision>1</cp:revision>
  <dcterms:created xsi:type="dcterms:W3CDTF">2026-10-02T15:34:46Z</dcterms:created>
  <dcterms:modified xsi:type="dcterms:W3CDTF">2026-10-02T15:34:46Z</dcterms:modified>
</cp:coreProperties>
</file>